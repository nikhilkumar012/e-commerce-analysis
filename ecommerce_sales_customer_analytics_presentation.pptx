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  <p:sldId id="265" r:id="rId10"/>
    <p:sldId id="267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884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82266AC-EF84-4323-87A3-4FBD66F84641}" type="datetimeFigureOut">
              <a:rPr lang="en-IN" smtClean="0"/>
              <a:t>18-09-2026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C97267-8D9A-46F6-A74D-FE7D2FBE98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8574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8046720" y="0"/>
            <a:ext cx="4142232" cy="6858000"/>
          </a:xfrm>
          <a:prstGeom prst="rect">
            <a:avLst/>
          </a:prstGeom>
          <a:solidFill>
            <a:srgbClr val="285B8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1325880"/>
            <a:ext cx="73152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100" b="1">
                <a:solidFill>
                  <a:srgbClr val="FFFFFF"/>
                </a:solidFill>
                <a:latin typeface="Aptos"/>
              </a:defRPr>
            </a:pPr>
            <a:r>
              <a:t>E-Commerce Sales &amp;</a:t>
            </a:r>
            <a:br/>
            <a:r>
              <a:t>Customer Analytics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80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DCE6EE"/>
                </a:solidFill>
                <a:latin typeface="Aptos"/>
              </a:defRPr>
            </a:pPr>
            <a:r>
              <a:t>SQL Project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DCE6EE"/>
                </a:solidFill>
                <a:latin typeface="Aptos"/>
              </a:defRPr>
            </a:pPr>
            <a:r>
              <a:t>Prepared from Ecommerce_SQL_Project_Complete.xlsx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182880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150</a:t>
            </a:r>
            <a:br/>
            <a:r>
              <a:t>orders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49640" y="3474720"/>
            <a:ext cx="27432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Aptos"/>
              </a:defRPr>
            </a:pPr>
            <a:r>
              <a:t>₹2.94M</a:t>
            </a:r>
            <a:br/>
            <a:r>
              <a:t>revenue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Purpose, scope and analytical goals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t>Business purpose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232323"/>
                </a:solidFill>
                <a:latin typeface="Aptos"/>
              </a:defRPr>
            </a:pPr>
            <a:r>
              <a:t>Use SQL-oriented data modelling and analysis to understand customer behaviour, product performance, order activity, revenue contribution and geographic sales patterns.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0" y="123444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t>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645920"/>
            <a:ext cx="53035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Measure revenue, order volume and average order value.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Identify high-performing products and categories.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Analyse revenue by month and customer city.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Find high-value and repeat-purchasing customers.</a:t>
            </a:r>
          </a:p>
          <a:p>
            <a:pPr>
              <a:spcAft>
                <a:spcPts val="1000"/>
              </a:spcAft>
              <a:defRPr sz="1400">
                <a:solidFill>
                  <a:srgbClr val="232323"/>
                </a:solidFill>
                <a:latin typeface="Aptos"/>
              </a:defRPr>
            </a:pPr>
            <a:r>
              <a:t>Demonstrate joins, aggregation, CTEs, CASE and window functions.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052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t>Analysis lens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617720"/>
            <a:ext cx="246888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13232" y="475488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Customer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" y="5056631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Who buys?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246120" y="4617720"/>
            <a:ext cx="246888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10712" y="475488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Product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10712" y="5056631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What sells?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486400"/>
            <a:ext cx="246888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562356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Order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5925312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How much?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246120" y="5486400"/>
            <a:ext cx="246888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410712" y="5623560"/>
            <a:ext cx="213969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Geography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10712" y="5925312"/>
            <a:ext cx="213969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Where?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Dataset and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Four connected tables support order- and product-level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234440"/>
          <a:ext cx="107442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897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Table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Important columns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Rows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customers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Customer master data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customer_id, customer_name, city, signup_date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Product catalogue and prices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product_id, product_name, category, 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Order-level transactions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order_id, customer_id, order_date, total_amount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order_items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Product lines within each order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order_id, product_id, quantity, unit_price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40080" y="3474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t>Relationships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069080"/>
            <a:ext cx="182880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28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14400" y="4224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755"/>
                </a:solidFill>
                <a:latin typeface="Aptos"/>
              </a:defRPr>
            </a:pPr>
            <a:r>
              <a:t>customers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97479" y="4233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194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4069080"/>
            <a:ext cx="9601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28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11879" y="42245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755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983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Join on customer_id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0" y="4069080"/>
            <a:ext cx="182880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28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4224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755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4233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194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0" y="4069080"/>
            <a:ext cx="9601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28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360920" y="42245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755"/>
                </a:solidFill>
                <a:latin typeface="Aptos"/>
              </a:defRPr>
            </a:pPr>
            <a:r>
              <a:t>order_items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983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Join on order_id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4069080"/>
            <a:ext cx="182880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28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412480" y="4224528"/>
            <a:ext cx="1645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83755"/>
                </a:solidFill>
                <a:latin typeface="Aptos"/>
              </a:defRPr>
            </a:pPr>
            <a:r>
              <a:t>products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95559" y="42336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E19437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064240" y="4069080"/>
            <a:ext cx="960120" cy="685800"/>
          </a:xfrm>
          <a:prstGeom prst="roundRect">
            <a:avLst/>
          </a:prstGeom>
          <a:solidFill>
            <a:srgbClr val="EEF4F8"/>
          </a:solidFill>
          <a:ln>
            <a:solidFill>
              <a:srgbClr val="285B8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1109959" y="4224528"/>
            <a:ext cx="868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83755"/>
                </a:solidFill>
                <a:latin typeface="Aptos"/>
              </a:defRPr>
            </a:pPr>
            <a:r>
              <a:t>order_items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40" y="498348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5F6973"/>
                </a:solidFill>
                <a:latin typeface="Aptos"/>
              </a:defRPr>
            </a:pPr>
            <a:r>
              <a:t>Join on product_id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Order dates span 2024-01-04 to 2024-12-31.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SQL Approach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Core techniques used to turn tables into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37160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8680" y="1572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t>SELECT / WHERE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02996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t>Choose fields and filter orders or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37160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663440" y="1572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t>GROUP BY + aggregates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202996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t>Calculate revenue, quantity, counts and averages.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75320" y="137160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458200" y="15727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t>JOINs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58200" y="2029967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t>Combine customer, order, product and line-item data.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42900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" y="36301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t>CTEs / subqueries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40873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t>Build reusable steps and compare against averages.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60" y="342900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663440" y="36301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t>CASE WHEN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40873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t>Create business categories such as order-value bands.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75320" y="342900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458200" y="3630168"/>
            <a:ext cx="2971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183755"/>
                </a:solidFill>
                <a:latin typeface="Aptos"/>
              </a:defRPr>
            </a:pPr>
            <a:r>
              <a:t>Window functions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58200" y="4087368"/>
            <a:ext cx="2971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232323"/>
                </a:solidFill>
                <a:latin typeface="Aptos"/>
              </a:defRPr>
            </a:pPr>
            <a:r>
              <a:t>Rank products or customers and calculate running totals.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F6973"/>
                </a:solidFill>
                <a:latin typeface="Aptos"/>
              </a:defRPr>
            </a:pPr>
            <a:r>
              <a:t>Quality checks: verify key uniqueness, foreign-key integrity, nulls, numeric types and order-total reconciliation.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Executive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Headline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50392" y="1554480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Total revenue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85623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₹2,944,268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350008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order totals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41732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645152" y="1554480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Orders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185623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150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2350008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transactions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417320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439912" y="1554480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Units sold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39912" y="185623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1,132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39912" y="2350008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product units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3291839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50392" y="3428999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Average order value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373075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₹19,628.45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224527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per order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480560" y="3291839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645152" y="3428999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Highest order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45152" y="373075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₹73,083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45152" y="4224527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single order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291839"/>
            <a:ext cx="3337560" cy="141732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439912" y="3428999"/>
            <a:ext cx="3008376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5F6973"/>
                </a:solidFill>
                <a:latin typeface="Aptos"/>
              </a:defRPr>
            </a:pPr>
            <a:r>
              <a:t>Cities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3730752"/>
            <a:ext cx="3008376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300" b="1">
                <a:solidFill>
                  <a:srgbClr val="183755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39912" y="4224527"/>
            <a:ext cx="30083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5F6973"/>
                </a:solidFill>
                <a:latin typeface="Aptos"/>
              </a:defRPr>
            </a:pPr>
            <a:r>
              <a:t>geographic markets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1520" y="57150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973"/>
                </a:solidFill>
                <a:latin typeface="Aptos"/>
              </a:defRPr>
            </a:pPr>
            <a:r>
              <a:t>The dataset shows strong concentration in electronics and a leading contribution from Hyderabad.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Revenue by Geography and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Where revenue comes from and which categories lead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t>Top cities by revenue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521208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160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Hyderabad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₹368,077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Bengaluru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₹324,265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₹322,961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Chandigarh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₹317,707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Gurugram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₹310,486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₹309,195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₹285,585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Pune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₹269,569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160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Ahmedabad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₹269,376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1609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Jaipur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₹167,047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217920" y="114300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83755"/>
                </a:solidFill>
                <a:latin typeface="Aptos"/>
              </a:defRPr>
            </a:pPr>
            <a:r>
              <a:t>Category performance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217920" y="1554480"/>
          <a:ext cx="521208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494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466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₹1,318,734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Furniture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₹738,067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Fitness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192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₹627,308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Accessories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₹169,974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4948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Stationery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159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₹51,041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4952"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Lifestyle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₹39,144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6263640" y="48006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32323"/>
                </a:solidFill>
                <a:latin typeface="Aptos"/>
              </a:defRPr>
            </a:pPr>
            <a:r>
              <a:t>Insight: Electronics is the strongest category, while Hyderabad is the top city by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Top Products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Leading products by line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7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896112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7323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Units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Office chair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Furniture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₹638,929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Running shoes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Fitness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₹334,933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Smart watch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₹305,949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Headphones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₹267,933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Fitness band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Fitness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₹234,433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Bluetooth speaker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₹200,933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Webcam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₹164,950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Power bank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₹129,528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7323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Mechanical keyboard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₹109,956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733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USB-C hub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Electronics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₹101,932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9788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973"/>
                </a:solidFill>
                <a:latin typeface="Aptos"/>
              </a:defRPr>
            </a:pPr>
            <a:r>
              <a:t>Office Chair is the clear product leader, generating nearly twice the revenue of Running Shoes.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Customer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Highest recorded customer 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9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5800" y="1234440"/>
          <a:ext cx="905256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854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Customer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City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Orders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Revenue</a:t>
                      </a:r>
                    </a:p>
                  </a:txBody>
                  <a:tcPr>
                    <a:solidFill>
                      <a:srgbClr val="18375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Navya Bhatia 19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Hyderabad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₹146,056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Rohan Verma 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Chandigarh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₹138,163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Navya Bhatia 39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Hyderabad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₹126,068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Ishaan Gupta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₹118,264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Sara Mehta 13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Noida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₹112,856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Aarav Sharma 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Delhi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₹99,365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Kiara Verma 15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Chandigarh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₹94,772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Myra Gupta 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Mumbai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₹94,274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4854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Reyansh Khanna 30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Ahmedabad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₹92,856</a:t>
                      </a:r>
                    </a:p>
                  </a:txBody>
                  <a:tcPr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9486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Vivaan Kapoor 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Gurugram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₹91,369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5F6973"/>
                </a:solidFill>
                <a:latin typeface="Aptos"/>
              </a:defRPr>
            </a:pPr>
            <a:r>
              <a:t>The top customer account recorded ₹146,056 across five orders.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What the analysis tells 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7899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150 orders generated ₹2,944,268 in order revenue.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Hyderabad is the highest-revenue city at ₹368,077.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Office Chair leads product line revenue at ₹638,929.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Electronics is the strongest category by line revenue.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March 2024 is the highest-revenue month at ₹410,765.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Navya Bhatia 19 is the highest recorded customer at ₹146,056.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>
                <a:solidFill>
                  <a:srgbClr val="5F6973"/>
                </a:solidFill>
                <a:latin typeface="Aptos"/>
              </a:defRPr>
            </a:pPr>
            <a:r>
              <a:t>Overall, performance is driven by a small group of high-value products, categories and customers.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837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347472"/>
            <a:ext cx="113385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83755"/>
                </a:solidFill>
                <a:latin typeface="Aptos Display"/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850392"/>
            <a:ext cx="1097280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5F6973"/>
                </a:solidFill>
                <a:latin typeface="Aptos"/>
              </a:defRPr>
            </a:pPr>
            <a:r>
              <a:t>From relational data to business insight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510528"/>
            <a:ext cx="113385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50">
                <a:solidFill>
                  <a:srgbClr val="5F6973"/>
                </a:solidFill>
              </a:defRPr>
            </a:pPr>
            <a:r>
              <a:rPr dirty="0"/>
              <a:t>E-Commerce Sales &amp; Customer Analytics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106070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83755"/>
                </a:solidFill>
                <a:latin typeface="Aptos"/>
              </a:defRPr>
            </a:pPr>
            <a:r>
              <a:t>This project demonstrates how four related tables can be transformed into a clear view of sales performance, customer value and market patterns.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971800"/>
            <a:ext cx="2514600" cy="150876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6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t>Relate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Join customers, orders, products and order items.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2971800"/>
            <a:ext cx="2514600" cy="150876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70332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t>Measure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Aggregate revenue, units, orders and averages.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46520" y="2971800"/>
            <a:ext cx="2514600" cy="150876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58368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t>Explain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Use rankings, CTEs and business categories.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2971800"/>
            <a:ext cx="2514600" cy="1508760"/>
          </a:xfrm>
          <a:prstGeom prst="roundRect">
            <a:avLst/>
          </a:prstGeom>
          <a:solidFill>
            <a:srgbClr val="EEF4F8"/>
          </a:solidFill>
          <a:ln>
            <a:solidFill>
              <a:srgbClr val="CD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464040" y="3246120"/>
            <a:ext cx="2240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183755"/>
                </a:solidFill>
                <a:latin typeface="Aptos"/>
              </a:defRPr>
            </a:pPr>
            <a:r>
              <a:t>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09759" y="3703320"/>
            <a:ext cx="2148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232323"/>
                </a:solidFill>
                <a:latin typeface="Aptos"/>
              </a:defRPr>
            </a:pPr>
            <a:r>
              <a:t>Translate findings into inventory, marketing and retention decisions.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52578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F6973"/>
                </a:solidFill>
                <a:latin typeface="Aptos"/>
              </a:defRPr>
            </a:pPr>
            <a:r>
              <a:t>SQL provides the foundation; the business value comes from asking the right questions and acting on the results.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92840" y="6510528"/>
            <a:ext cx="4572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50">
                <a:solidFill>
                  <a:srgbClr val="5F69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905</Words>
  <Application>Microsoft Office PowerPoint</Application>
  <PresentationFormat>Widescreen</PresentationFormat>
  <Paragraphs>286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Lets's Explore It</cp:lastModifiedBy>
  <cp:revision>2</cp:revision>
  <dcterms:created xsi:type="dcterms:W3CDTF">2013-01-27T09:14:16Z</dcterms:created>
  <dcterms:modified xsi:type="dcterms:W3CDTF">2026-09-18T10:14:10Z</dcterms:modified>
  <cp:category/>
</cp:coreProperties>
</file>